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4" r:id="rId10"/>
    <p:sldId id="263" r:id="rId11"/>
    <p:sldId id="266" r:id="rId12"/>
    <p:sldId id="265" r:id="rId13"/>
    <p:sldId id="267" r:id="rId14"/>
    <p:sldId id="269" r:id="rId15"/>
    <p:sldId id="268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9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90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chemeClr val="tx2">
            <a:lumMod val="10000"/>
            <a:lumOff val="90000"/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B844C-32BF-2C56-5488-F303AB19F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2F2E7A-CD8A-01B3-60A9-77533D998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A1F4C6-95BD-F0B1-87C8-06E0BD8C4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616D-BF59-4FFC-9B50-02A9E8C35939}" type="datetimeFigureOut">
              <a:rPr lang="ko-KR" altLang="en-US" smtClean="0"/>
              <a:t>26-01-25(Sun)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094014-6B9E-9872-6B8B-7737042FE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7661DF-FAFA-1367-C204-DC7D4E57A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07CD-C805-45B6-8BC4-470B771EA59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17E172-9211-7442-26C6-64389B8D5564}"/>
              </a:ext>
            </a:extLst>
          </p:cNvPr>
          <p:cNvSpPr/>
          <p:nvPr userDrawn="1"/>
        </p:nvSpPr>
        <p:spPr>
          <a:xfrm>
            <a:off x="0" y="220337"/>
            <a:ext cx="12192000" cy="8262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56E77C-BAF4-3F78-DF09-9E807BDA6CF8}"/>
              </a:ext>
            </a:extLst>
          </p:cNvPr>
          <p:cNvSpPr/>
          <p:nvPr userDrawn="1"/>
        </p:nvSpPr>
        <p:spPr>
          <a:xfrm>
            <a:off x="0" y="6538912"/>
            <a:ext cx="12192000" cy="8262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083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BE9F0-31AA-C110-7760-9E0044E5B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5F656A-8830-A703-2F17-74F24EA65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AF4DC7-9247-15E5-5A12-6AD90F2B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616D-BF59-4FFC-9B50-02A9E8C35939}" type="datetimeFigureOut">
              <a:rPr lang="ko-KR" altLang="en-US" smtClean="0"/>
              <a:t>26-01-25(Sun)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E42CC9-5ECD-97D4-5548-A6AE0010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E5EE9D-DAC7-F97E-4834-6A3B3DB39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07CD-C805-45B6-8BC4-470B771E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69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45AE8-BB99-8C4C-CBE2-396218BD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A1F480-A297-F32D-3EAD-61645B852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57048A-28EE-B6E7-44BF-D499A155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616D-BF59-4FFC-9B50-02A9E8C35939}" type="datetimeFigureOut">
              <a:rPr lang="ko-KR" altLang="en-US" smtClean="0"/>
              <a:t>26-01-25(Sun)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D57176-1F13-8CC9-7DE0-E7B4769AF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F5EDF9-ED84-F7E8-1098-D25CA7BE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07CD-C805-45B6-8BC4-470B771E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05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CB7758-DEF9-0280-5649-4C1DD0374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8870E1-1C97-2C5A-530F-785DC1934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11C97F-90CD-A163-7684-600C69930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B567FA-8DF9-7345-2DEE-38ACF9FCD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616D-BF59-4FFC-9B50-02A9E8C35939}" type="datetimeFigureOut">
              <a:rPr lang="ko-KR" altLang="en-US" smtClean="0"/>
              <a:t>26-01-25(Sun)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F052B8-7871-147E-3BA2-C1E7A3A59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C5CF58-9DED-EE04-05A6-BAD5E2A7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07CD-C805-45B6-8BC4-470B771E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76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9330E-FCCD-F994-67A7-5A5701E8F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5CEA50-62D4-61C8-E214-442C75E5F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FDA269-566B-27C6-EF17-60251E77C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1AE64C-685B-A057-9AF0-C13571744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F5FD7CD-E45F-7CF4-4904-1BECB1984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86BE4C-5717-F5DC-00D8-46F944658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616D-BF59-4FFC-9B50-02A9E8C35939}" type="datetimeFigureOut">
              <a:rPr lang="ko-KR" altLang="en-US" smtClean="0"/>
              <a:t>26-01-25(Sun)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6B7049-797C-46D1-D913-8D7C987BF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710951-A915-4583-5BA6-A8DA72A84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07CD-C805-45B6-8BC4-470B771E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98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B804B-9145-168A-1D54-9B8C0F73F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4B5DBB-8A1D-2D60-99D5-B1DD21AF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616D-BF59-4FFC-9B50-02A9E8C35939}" type="datetimeFigureOut">
              <a:rPr lang="ko-KR" altLang="en-US" smtClean="0"/>
              <a:t>26-01-25(Sun)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22A903-F97B-A6BF-6196-F3CADA49D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A128DC-E051-5A5E-F09D-04554E889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07CD-C805-45B6-8BC4-470B771E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279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0E66BB-2B36-4646-1C54-5A6EF98C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616D-BF59-4FFC-9B50-02A9E8C35939}" type="datetimeFigureOut">
              <a:rPr lang="ko-KR" altLang="en-US" smtClean="0"/>
              <a:t>26-01-25(Sun)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8C4278-BFF1-A825-8321-83FE5BE93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D4BB8E-F3EF-6858-3C40-C574FA7F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07CD-C805-45B6-8BC4-470B771E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516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B88815-9484-3AB1-17AA-939ACDF13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5FCD03-A0AA-1C92-5576-C546E9FCA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11D276-C828-EE97-D5B1-C963072C3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9C7940-8F55-F2F2-0B27-E0665D919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616D-BF59-4FFC-9B50-02A9E8C35939}" type="datetimeFigureOut">
              <a:rPr lang="ko-KR" altLang="en-US" smtClean="0"/>
              <a:t>26-01-25(Sun)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F4A7F6-0523-CEF6-91EF-899C7983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329286-707D-B9D4-B3F3-AB06906D5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07CD-C805-45B6-8BC4-470B771E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05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1404C-04EE-07F6-8E63-E0BFA1B1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2AED89-C5EB-BDF7-408E-E1059277B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EBD718-D23C-4872-40FD-B2818410D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C9481F-BB4A-0780-CA1E-CCD41DAC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616D-BF59-4FFC-9B50-02A9E8C35939}" type="datetimeFigureOut">
              <a:rPr lang="ko-KR" altLang="en-US" smtClean="0"/>
              <a:t>26-01-25(Sun)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39BBDD-F184-915C-9B30-D3DB61579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344E2A-3C64-8EE7-0DFF-55EA77B19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07CD-C805-45B6-8BC4-470B771E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85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4CE02-61F4-6F06-D58D-AE61F20BA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18D62A-10BF-31F1-3183-7ECB953A0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CFB414-9089-8987-8912-D91A9A54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616D-BF59-4FFC-9B50-02A9E8C35939}" type="datetimeFigureOut">
              <a:rPr lang="ko-KR" altLang="en-US" smtClean="0"/>
              <a:t>26-01-25(Sun)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743D15-B6FF-B726-936B-C53818BAD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6AC3F4-5E1A-2207-29A0-FADDD854F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07CD-C805-45B6-8BC4-470B771E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128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B2E279-35E1-8631-5CBB-2F5DDC0288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90352F-CCBC-8FAD-95C0-A2F549461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06403-DF78-A1DD-8626-9B6FE5E34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616D-BF59-4FFC-9B50-02A9E8C35939}" type="datetimeFigureOut">
              <a:rPr lang="ko-KR" altLang="en-US" smtClean="0"/>
              <a:t>26-01-25(Sun)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362CC-5D03-E923-0BE3-64A7C77CF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926DC-9FF4-6C8E-4A80-2DF2C9955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07CD-C805-45B6-8BC4-470B771E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287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13526E-823D-4350-2A4B-B59727B4D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95F10C-F58B-7AE2-223D-044DBB449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EB7EE4-E5D3-DE12-79BF-2357B0F9D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A616D-BF59-4FFC-9B50-02A9E8C35939}" type="datetimeFigureOut">
              <a:rPr lang="ko-KR" altLang="en-US" smtClean="0"/>
              <a:t>26-01-25(Sun)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E19EF0-6B6F-DB43-BD41-F22FBFE38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502816-6341-EDFD-5243-DFE59EB7D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007CD-C805-45B6-8BC4-470B771E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49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lE41D0CcjWU?feature=oemb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82C3134-9915-C841-4B1C-0943034D7051}"/>
              </a:ext>
            </a:extLst>
          </p:cNvPr>
          <p:cNvSpPr/>
          <p:nvPr/>
        </p:nvSpPr>
        <p:spPr>
          <a:xfrm>
            <a:off x="764241" y="1838886"/>
            <a:ext cx="10663517" cy="30457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AI</a:t>
            </a:r>
            <a:r>
              <a:rPr lang="ko-KR" altLang="en-US" sz="54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이미지를 어떻게 인식하는 걸까</a:t>
            </a:r>
            <a:r>
              <a:rPr lang="en-US" altLang="ko-KR" sz="54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</a:p>
          <a:p>
            <a:pPr algn="ctr"/>
            <a:endParaRPr lang="en-US" altLang="ko-KR" sz="32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44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- CNN</a:t>
            </a:r>
            <a:r>
              <a:rPr lang="ko-KR" altLang="en-US" sz="44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과 </a:t>
            </a:r>
            <a:r>
              <a:rPr lang="ko-KR" altLang="en-US" sz="4400" b="1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합성곱에</a:t>
            </a:r>
            <a:r>
              <a:rPr lang="ko-KR" altLang="en-US" sz="44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관해 </a:t>
            </a:r>
            <a:r>
              <a:rPr lang="en-US" altLang="ko-KR" sz="44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-</a:t>
            </a:r>
            <a:endParaRPr lang="ko-KR" altLang="en-US" sz="4400" b="1" dirty="0">
              <a:solidFill>
                <a:schemeClr val="tx1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8960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5507A-98E8-73E4-0308-8D8E485F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온라인 미디어 1" title="공장서 출고된 차가 스스로 차주 집으로…테슬라, '무인 배송' 첫선 [MBN 뉴스7]">
            <a:hlinkClick r:id="" action="ppaction://media"/>
            <a:extLst>
              <a:ext uri="{FF2B5EF4-FFF2-40B4-BE49-F238E27FC236}">
                <a16:creationId xmlns:a16="http://schemas.microsoft.com/office/drawing/2014/main" id="{86395A70-4BEF-9FAA-A031-16EE79344AF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225" y="0"/>
            <a:ext cx="12147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4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D10A0-EE06-CCAE-488D-435E279F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사람, 인간의 얼굴, 실내, 책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2252F4-7BBA-330F-8ADA-7B35F3A75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6470"/>
            <a:ext cx="6235524" cy="6235524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D7A6ADE-FD89-B149-6496-C9AA5A3BF1EF}"/>
              </a:ext>
            </a:extLst>
          </p:cNvPr>
          <p:cNvSpPr/>
          <p:nvPr/>
        </p:nvSpPr>
        <p:spPr>
          <a:xfrm>
            <a:off x="6644640" y="1143000"/>
            <a:ext cx="5093970" cy="98298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Q1. </a:t>
            </a:r>
          </a:p>
          <a:p>
            <a:pPr algn="ctr"/>
            <a:r>
              <a:rPr lang="ko-KR" altLang="en-US" sz="20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신체부위는 없어도 살만하겠다</a:t>
            </a:r>
            <a:r>
              <a:rPr lang="en-US" altLang="ko-KR" sz="20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2000" b="1" dirty="0">
              <a:solidFill>
                <a:schemeClr val="tx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F956A5D-D0E9-A31A-EAF8-1FC0BE7581B3}"/>
              </a:ext>
            </a:extLst>
          </p:cNvPr>
          <p:cNvSpPr/>
          <p:nvPr/>
        </p:nvSpPr>
        <p:spPr>
          <a:xfrm>
            <a:off x="6644640" y="3854763"/>
            <a:ext cx="5093970" cy="127349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Q2. </a:t>
            </a:r>
          </a:p>
          <a:p>
            <a:pPr algn="ctr"/>
            <a:r>
              <a:rPr lang="ko-KR" altLang="en-US" sz="20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신체부위는 없으면 살기 진짜 힘들겠다</a:t>
            </a:r>
            <a:r>
              <a:rPr lang="en-US" altLang="ko-KR" sz="20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2000" b="1" dirty="0">
              <a:solidFill>
                <a:schemeClr val="tx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5688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B43A0-D64B-3CAC-ACFF-5225C3640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인간의 얼굴, 사람, 의류, 헤드 커버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7DD360-9411-37ED-58DB-00423C7CB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62890"/>
            <a:ext cx="4181746" cy="6275070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15EF98A-0E22-E8C0-258C-A8F00221BFB3}"/>
              </a:ext>
            </a:extLst>
          </p:cNvPr>
          <p:cNvCxnSpPr/>
          <p:nvPr/>
        </p:nvCxnSpPr>
        <p:spPr>
          <a:xfrm flipV="1">
            <a:off x="2743200" y="1783080"/>
            <a:ext cx="1287780" cy="134112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B6E548A-76F4-60AD-2666-A575873B5E5D}"/>
              </a:ext>
            </a:extLst>
          </p:cNvPr>
          <p:cNvCxnSpPr/>
          <p:nvPr/>
        </p:nvCxnSpPr>
        <p:spPr>
          <a:xfrm>
            <a:off x="4023360" y="1783080"/>
            <a:ext cx="23850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A33739-CB24-A4D5-1E2E-A825C80893CA}"/>
              </a:ext>
            </a:extLst>
          </p:cNvPr>
          <p:cNvSpPr/>
          <p:nvPr/>
        </p:nvSpPr>
        <p:spPr>
          <a:xfrm>
            <a:off x="6461760" y="697231"/>
            <a:ext cx="5181600" cy="21716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일반성인 </a:t>
            </a:r>
            <a:r>
              <a:rPr lang="en-US" altLang="ko-KR" sz="24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250</a:t>
            </a:r>
            <a:r>
              <a:rPr lang="ko-KR" altLang="en-US" sz="24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 중 </a:t>
            </a:r>
            <a:r>
              <a:rPr lang="en-US" altLang="ko-KR" sz="24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88%</a:t>
            </a:r>
            <a:r>
              <a:rPr lang="ko-KR" altLang="en-US" sz="24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</a:t>
            </a:r>
            <a:endParaRPr lang="en-US" altLang="ko-KR" sz="2400" b="1" dirty="0">
              <a:solidFill>
                <a:schemeClr val="tx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24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제일 중요하게 생각함</a:t>
            </a:r>
            <a:r>
              <a:rPr lang="en-US" altLang="ko-KR" sz="24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algn="ctr"/>
            <a:r>
              <a:rPr lang="en-US" altLang="ko-KR" sz="24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4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영국 </a:t>
            </a:r>
            <a:r>
              <a:rPr lang="en-US" altLang="ko-KR" sz="24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- 2019, JAMA Ophthalmology)</a:t>
            </a:r>
            <a:endParaRPr lang="ko-KR" altLang="en-US" sz="2400" b="1" dirty="0">
              <a:solidFill>
                <a:schemeClr val="tx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8B28EEA-62B5-075C-47DF-C676831A7DD4}"/>
              </a:ext>
            </a:extLst>
          </p:cNvPr>
          <p:cNvSpPr/>
          <p:nvPr/>
        </p:nvSpPr>
        <p:spPr>
          <a:xfrm>
            <a:off x="4457700" y="4511039"/>
            <a:ext cx="7360920" cy="147828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우리는 보고</a:t>
            </a:r>
            <a:r>
              <a:rPr lang="en-US" altLang="ko-KR" sz="2800" b="1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800" b="1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인지</a:t>
            </a:r>
            <a:r>
              <a:rPr lang="en-US" altLang="ko-KR" sz="28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800" b="1" dirty="0">
                <a:solidFill>
                  <a:schemeClr val="tx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→ 생각하고 → 행동하는 생물</a:t>
            </a:r>
          </a:p>
        </p:txBody>
      </p:sp>
    </p:spTree>
    <p:extLst>
      <p:ext uri="{BB962C8B-B14F-4D97-AF65-F5344CB8AC3E}">
        <p14:creationId xmlns:p14="http://schemas.microsoft.com/office/powerpoint/2010/main" val="240465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4582-2F82-2AB6-9865-27682479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348644D-0CE0-D363-5DC6-032DAEC39F44}"/>
              </a:ext>
            </a:extLst>
          </p:cNvPr>
          <p:cNvSpPr/>
          <p:nvPr/>
        </p:nvSpPr>
        <p:spPr>
          <a:xfrm>
            <a:off x="710901" y="1747446"/>
            <a:ext cx="10663517" cy="30457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인공지능에서 그럼 </a:t>
            </a:r>
            <a:r>
              <a:rPr lang="ko-KR" altLang="en-US" sz="5400" b="1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제일 중요한 </a:t>
            </a:r>
            <a:r>
              <a:rPr lang="ko-KR" altLang="en-US" sz="54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개념</a:t>
            </a:r>
            <a:r>
              <a:rPr lang="en-US" altLang="ko-KR" sz="54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  <a:endParaRPr lang="ko-KR" altLang="en-US" sz="4400" b="1" dirty="0">
              <a:solidFill>
                <a:schemeClr val="tx1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084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4AAD-9A9C-0900-97A1-2FC50CAD6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도로, 야외, 차량, 하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17578E-76A9-D146-3D4F-B6007DD2B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53" y="403209"/>
            <a:ext cx="12206905" cy="605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758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C506-FAC2-15C3-B31D-CEF6B2A8A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도로, 야외, 차량, 하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E00922-E1FE-4AA4-B50C-89DD55245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53" y="403209"/>
            <a:ext cx="12206905" cy="605158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48865A5-2A9E-F812-E727-688428FC28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17A518-13E9-9DE0-6C6F-DFE329862E96}"/>
              </a:ext>
            </a:extLst>
          </p:cNvPr>
          <p:cNvSpPr/>
          <p:nvPr/>
        </p:nvSpPr>
        <p:spPr>
          <a:xfrm>
            <a:off x="2209800" y="1440180"/>
            <a:ext cx="7185660" cy="3901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9900" dirty="0">
                <a:solidFill>
                  <a:srgbClr val="FFC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분류</a:t>
            </a:r>
          </a:p>
        </p:txBody>
      </p:sp>
    </p:spTree>
    <p:extLst>
      <p:ext uri="{BB962C8B-B14F-4D97-AF65-F5344CB8AC3E}">
        <p14:creationId xmlns:p14="http://schemas.microsoft.com/office/powerpoint/2010/main" val="1741107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32C2F-1575-2F49-73E5-942AD775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클립아트, 상징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50D82A-E29E-EC95-0500-3CB4AB664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38" y="1523659"/>
            <a:ext cx="3581741" cy="3581741"/>
          </a:xfrm>
          <a:prstGeom prst="rect">
            <a:avLst/>
          </a:prstGeom>
        </p:spPr>
      </p:pic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4D84484F-FD1A-AB9A-87BE-4B0D3E55ED18}"/>
              </a:ext>
            </a:extLst>
          </p:cNvPr>
          <p:cNvSpPr/>
          <p:nvPr/>
        </p:nvSpPr>
        <p:spPr>
          <a:xfrm>
            <a:off x="4411980" y="1196340"/>
            <a:ext cx="2903220" cy="1661160"/>
          </a:xfrm>
          <a:prstGeom prst="wedgeRoundRectCallout">
            <a:avLst>
              <a:gd name="adj1" fmla="val -64679"/>
              <a:gd name="adj2" fmla="val 39926"/>
              <a:gd name="adj3" fmla="val 16667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사람일 확률 </a:t>
            </a:r>
            <a:endParaRPr lang="en-US" altLang="ko-KR" sz="36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algn="ctr"/>
            <a:r>
              <a:rPr lang="en-US" altLang="ko-KR" sz="3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95%</a:t>
            </a:r>
            <a:r>
              <a:rPr lang="ko-KR" altLang="en-US" sz="3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분류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CBE7677-0229-B056-92F5-B1603087621A}"/>
              </a:ext>
            </a:extLst>
          </p:cNvPr>
          <p:cNvSpPr/>
          <p:nvPr/>
        </p:nvSpPr>
        <p:spPr>
          <a:xfrm>
            <a:off x="8907780" y="1196340"/>
            <a:ext cx="2103120" cy="16611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속도를 줄여서 </a:t>
            </a:r>
            <a:endParaRPr lang="en-US" altLang="ko-KR" sz="28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algn="ctr"/>
            <a:r>
              <a:rPr lang="ko-KR" altLang="en-US" sz="28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충돌을 방지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72E55C28-543D-D858-D7C5-4DE27B0D963A}"/>
              </a:ext>
            </a:extLst>
          </p:cNvPr>
          <p:cNvSpPr/>
          <p:nvPr/>
        </p:nvSpPr>
        <p:spPr>
          <a:xfrm>
            <a:off x="7684770" y="1752600"/>
            <a:ext cx="853440" cy="5486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7DC7BAA9-2D47-B895-0EE2-126E86E15234}"/>
              </a:ext>
            </a:extLst>
          </p:cNvPr>
          <p:cNvSpPr/>
          <p:nvPr/>
        </p:nvSpPr>
        <p:spPr>
          <a:xfrm>
            <a:off x="4411980" y="3939369"/>
            <a:ext cx="2903220" cy="1661160"/>
          </a:xfrm>
          <a:prstGeom prst="wedgeRoundRectCallout">
            <a:avLst>
              <a:gd name="adj1" fmla="val -71503"/>
              <a:gd name="adj2" fmla="val -44478"/>
              <a:gd name="adj3" fmla="val 16667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직진 신호로</a:t>
            </a:r>
            <a:endParaRPr lang="en-US" altLang="ko-KR" sz="36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algn="ctr"/>
            <a:r>
              <a:rPr lang="en-US" altLang="ko-KR" sz="3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70%</a:t>
            </a:r>
            <a:r>
              <a:rPr lang="ko-KR" altLang="en-US" sz="3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분류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88F43EF-7AB7-A545-FE1E-C9D7A69EF33D}"/>
              </a:ext>
            </a:extLst>
          </p:cNvPr>
          <p:cNvSpPr/>
          <p:nvPr/>
        </p:nvSpPr>
        <p:spPr>
          <a:xfrm>
            <a:off x="7684770" y="4495629"/>
            <a:ext cx="853440" cy="5486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FF3F567-F2C1-CBDC-0BDF-EB1FB6F88DB5}"/>
              </a:ext>
            </a:extLst>
          </p:cNvPr>
          <p:cNvSpPr/>
          <p:nvPr/>
        </p:nvSpPr>
        <p:spPr>
          <a:xfrm>
            <a:off x="8907780" y="3939369"/>
            <a:ext cx="2103120" cy="1661160"/>
          </a:xfrm>
          <a:prstGeom prst="rect">
            <a:avLst/>
          </a:prstGeom>
          <a:solidFill>
            <a:srgbClr val="FF0000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속도를 그대로 </a:t>
            </a:r>
            <a:endParaRPr lang="en-US" altLang="ko-KR" sz="2800" b="1" dirty="0">
              <a:solidFill>
                <a:schemeClr val="tx1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유지하며 전진</a:t>
            </a:r>
          </a:p>
        </p:txBody>
      </p:sp>
    </p:spTree>
    <p:extLst>
      <p:ext uri="{BB962C8B-B14F-4D97-AF65-F5344CB8AC3E}">
        <p14:creationId xmlns:p14="http://schemas.microsoft.com/office/powerpoint/2010/main" val="3994165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5BC42-F4E2-6055-EF45-D10BA7D3B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74E05E8-8BC2-5D19-D882-88818D4A565C}"/>
              </a:ext>
            </a:extLst>
          </p:cNvPr>
          <p:cNvSpPr/>
          <p:nvPr/>
        </p:nvSpPr>
        <p:spPr>
          <a:xfrm>
            <a:off x="320040" y="1516380"/>
            <a:ext cx="4480560" cy="3535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6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CNN</a:t>
            </a:r>
            <a:endParaRPr lang="ko-KR" altLang="en-US" sz="16600" b="1" dirty="0">
              <a:solidFill>
                <a:schemeClr val="tx1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008EAA-7C94-D44A-1851-7D034866B08E}"/>
              </a:ext>
            </a:extLst>
          </p:cNvPr>
          <p:cNvSpPr txBox="1"/>
          <p:nvPr/>
        </p:nvSpPr>
        <p:spPr>
          <a:xfrm>
            <a:off x="5585460" y="1632079"/>
            <a:ext cx="57378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solidFill>
                  <a:srgbClr val="FF0000"/>
                </a:solidFill>
              </a:rPr>
              <a:t>C</a:t>
            </a:r>
            <a:r>
              <a:rPr lang="en-US" altLang="ko-KR" sz="6600" b="1" dirty="0"/>
              <a:t>onvolutional</a:t>
            </a:r>
          </a:p>
          <a:p>
            <a:r>
              <a:rPr lang="en-US" altLang="ko-KR" sz="6600" b="1" dirty="0">
                <a:solidFill>
                  <a:srgbClr val="FF0000"/>
                </a:solidFill>
              </a:rPr>
              <a:t>N</a:t>
            </a:r>
            <a:r>
              <a:rPr lang="en-US" altLang="ko-KR" sz="6600" b="1" dirty="0"/>
              <a:t>eural</a:t>
            </a:r>
          </a:p>
          <a:p>
            <a:r>
              <a:rPr lang="en-US" altLang="ko-KR" sz="6600" b="1" dirty="0">
                <a:solidFill>
                  <a:srgbClr val="FF0000"/>
                </a:solidFill>
              </a:rPr>
              <a:t>N</a:t>
            </a:r>
            <a:r>
              <a:rPr lang="en-US" altLang="ko-KR" sz="6600" b="1" dirty="0"/>
              <a:t>etwork</a:t>
            </a:r>
            <a:endParaRPr lang="ko-KR" alt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1735887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C5C37-2F7D-726A-A9CC-70971C8D3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3B0C84-6875-E5D6-CA87-8DF624796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29" y="880707"/>
            <a:ext cx="10145541" cy="5096586"/>
          </a:xfrm>
          <a:prstGeom prst="rect">
            <a:avLst/>
          </a:prstGeom>
        </p:spPr>
      </p:pic>
      <p:sp>
        <p:nvSpPr>
          <p:cNvPr id="4" name="곱하기 기호 3">
            <a:extLst>
              <a:ext uri="{FF2B5EF4-FFF2-40B4-BE49-F238E27FC236}">
                <a16:creationId xmlns:a16="http://schemas.microsoft.com/office/drawing/2014/main" id="{B1574E43-A8E4-2C73-6D6B-094DF8BDF6A2}"/>
              </a:ext>
            </a:extLst>
          </p:cNvPr>
          <p:cNvSpPr/>
          <p:nvPr/>
        </p:nvSpPr>
        <p:spPr>
          <a:xfrm>
            <a:off x="3059429" y="114300"/>
            <a:ext cx="6073140" cy="6347460"/>
          </a:xfrm>
          <a:prstGeom prst="mathMultiply">
            <a:avLst>
              <a:gd name="adj1" fmla="val 988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955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57F29-7AA1-7755-61D1-F524FD28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1A5E3F-B34A-4382-EDD5-66BF7E49B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963" y="582135"/>
            <a:ext cx="7552113" cy="5806440"/>
          </a:xfrm>
          <a:prstGeom prst="rect">
            <a:avLst/>
          </a:prstGeom>
        </p:spPr>
      </p:pic>
      <p:pic>
        <p:nvPicPr>
          <p:cNvPr id="5" name="그림 4" descr="텍스트, 스크린샷, 휴대 전화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C28C28-4064-06C2-E9E8-9000DE233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24" y="582135"/>
            <a:ext cx="3972479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985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B6D79-1243-22DA-2255-B753F899F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라인, 평면도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90EA59-D4E9-CE5D-9476-4E9825D85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5" b="8727"/>
          <a:stretch>
            <a:fillRect/>
          </a:stretch>
        </p:blipFill>
        <p:spPr>
          <a:xfrm>
            <a:off x="3495675" y="407959"/>
            <a:ext cx="7766685" cy="2800639"/>
          </a:xfrm>
          <a:prstGeom prst="rect">
            <a:avLst/>
          </a:prstGeom>
        </p:spPr>
      </p:pic>
      <p:pic>
        <p:nvPicPr>
          <p:cNvPr id="11" name="그림 10" descr="도표, 라인, 텍스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121FDA-C7E5-424C-E09D-2C159DBDE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1" r="2292" b="5303"/>
          <a:stretch>
            <a:fillRect/>
          </a:stretch>
        </p:blipFill>
        <p:spPr>
          <a:xfrm>
            <a:off x="3495674" y="3429000"/>
            <a:ext cx="7766685" cy="283464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478B9C-A045-522A-8973-05AAEC7CB028}"/>
              </a:ext>
            </a:extLst>
          </p:cNvPr>
          <p:cNvSpPr/>
          <p:nvPr/>
        </p:nvSpPr>
        <p:spPr>
          <a:xfrm>
            <a:off x="312420" y="1958340"/>
            <a:ext cx="2758440" cy="2887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어떤 </a:t>
            </a:r>
            <a:r>
              <a:rPr lang="ko-KR" altLang="en-US" sz="4800" b="1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규칙</a:t>
            </a:r>
            <a:r>
              <a:rPr lang="ko-KR" altLang="en-US" sz="48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이 </a:t>
            </a:r>
            <a:endParaRPr lang="en-US" altLang="ko-KR" sz="4800" b="1" dirty="0">
              <a:solidFill>
                <a:schemeClr val="tx1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algn="ctr"/>
            <a:r>
              <a:rPr lang="ko-KR" altLang="en-US" sz="48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있나요</a:t>
            </a:r>
            <a:r>
              <a:rPr lang="en-US" altLang="ko-KR" sz="48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?</a:t>
            </a:r>
            <a:endParaRPr lang="ko-KR" altLang="en-US" sz="4800" b="1" dirty="0">
              <a:solidFill>
                <a:schemeClr val="tx1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759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A5209-4EED-A359-C766-15DC48A4B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사각형, 스크린샷, 직사각형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C4EA6F-BC36-9152-7AA5-7D06AB48B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452" y="510946"/>
            <a:ext cx="3770110" cy="3809177"/>
          </a:xfrm>
          <a:prstGeom prst="rect">
            <a:avLst/>
          </a:prstGeom>
        </p:spPr>
      </p:pic>
      <p:pic>
        <p:nvPicPr>
          <p:cNvPr id="7" name="그림 6" descr="스크린샷, 직사각형, 사각형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3172C8-2822-6712-EADC-D9128A35A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368" y="510947"/>
            <a:ext cx="3809177" cy="38091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F5DCAE-CE35-9E3C-054D-63B396C05B12}"/>
              </a:ext>
            </a:extLst>
          </p:cNvPr>
          <p:cNvSpPr txBox="1"/>
          <p:nvPr/>
        </p:nvSpPr>
        <p:spPr>
          <a:xfrm>
            <a:off x="5422465" y="1789725"/>
            <a:ext cx="58674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dirty="0">
                <a:solidFill>
                  <a:srgbClr val="FF0000"/>
                </a:solidFill>
              </a:rPr>
              <a:t>*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99F05F54-4345-9E72-0300-5C54B7B99288}"/>
                  </a:ext>
                </a:extLst>
              </p:cNvPr>
              <p:cNvSpPr/>
              <p:nvPr/>
            </p:nvSpPr>
            <p:spPr>
              <a:xfrm>
                <a:off x="670560" y="4945380"/>
                <a:ext cx="10927080" cy="115824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000" dirty="0">
                    <a:solidFill>
                      <a:schemeClr val="tx1"/>
                    </a:solidFill>
                  </a:rPr>
                  <a:t>값</a:t>
                </a:r>
                <a:r>
                  <a:rPr lang="en-US" altLang="ko-KR" sz="20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altLang="ko-KR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(−1)+22</m:t>
                    </m:r>
                    <m:r>
                      <a:rPr lang="en-US" altLang="ko-KR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(−2)+35</m:t>
                    </m:r>
                    <m:r>
                      <a:rPr lang="en-US" altLang="ko-KR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(−1)</m:t>
                    </m:r>
                    <m:r>
                      <a:rPr lang="en-US" altLang="ko-KR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+22</m:t>
                    </m:r>
                    <m:r>
                      <a:rPr lang="en-US" altLang="ko-KR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0+43</m:t>
                    </m:r>
                    <m:r>
                      <a:rPr lang="en-US" altLang="ko-KR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0+71</m:t>
                    </m:r>
                    <m:r>
                      <a:rPr lang="en-US" altLang="ko-KR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0+</m:t>
                    </m:r>
                    <m:r>
                      <a:rPr lang="en-US" altLang="ko-KR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a:rPr lang="en-US" altLang="ko-KR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1+71</m:t>
                    </m:r>
                    <m:r>
                      <a:rPr lang="en-US" altLang="ko-KR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2+116</m:t>
                    </m:r>
                    <m:r>
                      <a:rPr lang="en-US" altLang="ko-KR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99F05F54-4345-9E72-0300-5C54B7B992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" y="4945380"/>
                <a:ext cx="10927080" cy="11582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3121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1404-228A-2F34-8C73-06312BD6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FB28107-B2CF-1234-3542-145216A14597}"/>
              </a:ext>
            </a:extLst>
          </p:cNvPr>
          <p:cNvSpPr/>
          <p:nvPr/>
        </p:nvSpPr>
        <p:spPr>
          <a:xfrm>
            <a:off x="1158240" y="933450"/>
            <a:ext cx="9875520" cy="49911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Kernel </a:t>
            </a:r>
            <a:r>
              <a:rPr lang="ko-KR" altLang="en-US" sz="36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필터 체험 전 알아야 할 사항</a:t>
            </a:r>
            <a:endParaRPr lang="en-US" altLang="ko-KR" sz="36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endParaRPr lang="en-US" altLang="ko-KR" sz="2800" dirty="0"/>
          </a:p>
          <a:p>
            <a:pPr marL="342900" indent="-342900">
              <a:buAutoNum type="arabicPeriod"/>
            </a:pPr>
            <a:r>
              <a:rPr lang="ko-KR" altLang="en-US" sz="28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오늘 배울 내용은 수학적 내용</a:t>
            </a:r>
            <a:r>
              <a:rPr lang="en-US" altLang="ko-KR" sz="28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(80%), </a:t>
            </a:r>
            <a:r>
              <a:rPr lang="ko-KR" altLang="en-US" sz="28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컴퓨터사용</a:t>
            </a:r>
            <a:r>
              <a:rPr lang="en-US" altLang="ko-KR" sz="28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(20%)</a:t>
            </a:r>
            <a:r>
              <a:rPr lang="ko-KR" altLang="en-US" sz="28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이며 경청하면 누구나 따라 올 수 있으니 집중</a:t>
            </a:r>
            <a:r>
              <a:rPr lang="en-US" altLang="ko-KR" sz="28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2800" dirty="0">
              <a:solidFill>
                <a:schemeClr val="tx1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28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컴퓨터사용</a:t>
            </a:r>
            <a:r>
              <a:rPr lang="en-US" altLang="ko-KR" sz="28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(20%)</a:t>
            </a:r>
            <a:r>
              <a:rPr lang="ko-KR" altLang="en-US" sz="28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은 </a:t>
            </a:r>
            <a:r>
              <a:rPr lang="en-US" altLang="ko-KR" sz="28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Excel(</a:t>
            </a:r>
            <a:r>
              <a:rPr lang="ko-KR" altLang="en-US" sz="28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엑셀</a:t>
            </a:r>
            <a:r>
              <a:rPr lang="en-US" altLang="ko-KR" sz="28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28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이 대부분이며 논리적 사고만 충분하다면 따라올 수 있음</a:t>
            </a:r>
            <a:r>
              <a:rPr lang="en-US" altLang="ko-KR" sz="28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342900" indent="-342900" algn="ctr">
              <a:buAutoNum type="arabicPeriod"/>
            </a:pP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61662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44BF3-335F-69DB-0C7C-76AB65C3C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67BA76B-B403-DE75-DD88-3844A6C1BF23}"/>
              </a:ext>
            </a:extLst>
          </p:cNvPr>
          <p:cNvSpPr/>
          <p:nvPr/>
        </p:nvSpPr>
        <p:spPr>
          <a:xfrm>
            <a:off x="76200" y="342900"/>
            <a:ext cx="1699260" cy="11506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엑셀을 통한</a:t>
            </a:r>
            <a:endParaRPr lang="en-US" altLang="ko-KR" sz="20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algn="ctr"/>
            <a:r>
              <a:rPr lang="en-US" altLang="ko-KR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Kernel </a:t>
            </a:r>
            <a:r>
              <a:rPr lang="ko-KR" altLang="en-US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체험</a:t>
            </a:r>
          </a:p>
        </p:txBody>
      </p:sp>
      <p:pic>
        <p:nvPicPr>
          <p:cNvPr id="4" name="그림 3" descr="텍스트, 중소형 고양이, 스크린샷, 고양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EC0262-5F4D-89BC-64A3-3C3B261B4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00" y="1691640"/>
            <a:ext cx="5400910" cy="4450080"/>
          </a:xfrm>
          <a:prstGeom prst="rect">
            <a:avLst/>
          </a:prstGeom>
        </p:spPr>
      </p:pic>
      <p:pic>
        <p:nvPicPr>
          <p:cNvPr id="6" name="그림 5" descr="텍스트, 스크린샷, 멀티미디어 소프트웨어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969AAA-98CB-F23B-1C4E-976A7FF8D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760" y="1691640"/>
            <a:ext cx="5196840" cy="457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83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1C74B-1CC3-C618-532A-87217CEFC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중소형 고양이, 새끼 고양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A8BC5C-1F44-A1B9-74B4-9E9403D46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580" y="609600"/>
            <a:ext cx="7090353" cy="539496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E8C3D6A-B87A-757D-173A-3A114DDE66C5}"/>
              </a:ext>
            </a:extLst>
          </p:cNvPr>
          <p:cNvSpPr/>
          <p:nvPr/>
        </p:nvSpPr>
        <p:spPr>
          <a:xfrm>
            <a:off x="487680" y="609600"/>
            <a:ext cx="1699260" cy="11506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흐림 필터</a:t>
            </a:r>
            <a:endParaRPr lang="en-US" altLang="ko-KR" sz="20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algn="ctr"/>
            <a:r>
              <a:rPr lang="ko-KR" altLang="en-US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1037682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DD1F0-F2E6-52B2-48E6-1FBC6034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포유류, 고양이, 고양잇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95A432-287F-D5F3-7347-A4A1BEF0A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959" y="737292"/>
            <a:ext cx="7903881" cy="514534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7DA29E9-22C2-2232-9107-E874BFF716CC}"/>
              </a:ext>
            </a:extLst>
          </p:cNvPr>
          <p:cNvSpPr/>
          <p:nvPr/>
        </p:nvSpPr>
        <p:spPr>
          <a:xfrm>
            <a:off x="487680" y="609600"/>
            <a:ext cx="1699260" cy="11506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흐림 필터</a:t>
            </a:r>
            <a:endParaRPr lang="en-US" altLang="ko-KR" sz="20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algn="ctr"/>
            <a:r>
              <a:rPr lang="ko-KR" altLang="en-US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3150312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4D3A4-8D15-3A2D-3025-BB2C20475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아쿠아, 터쿼이즈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9C4566-FF4A-CC6D-D73A-AF6F950F3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9767"/>
            <a:ext cx="12192000" cy="547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116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2F012-96D8-A946-1663-D1EC4629A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인간의 얼굴, 텍스트, 스크린샷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656398-4329-5CAA-93C2-93044BBB2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095" y="926988"/>
            <a:ext cx="8014485" cy="484897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1C4D2D3-6A48-DFEA-BA99-97A0AB5B75B4}"/>
              </a:ext>
            </a:extLst>
          </p:cNvPr>
          <p:cNvSpPr/>
          <p:nvPr/>
        </p:nvSpPr>
        <p:spPr>
          <a:xfrm>
            <a:off x="657075" y="746760"/>
            <a:ext cx="1699260" cy="11506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실제 </a:t>
            </a:r>
            <a:r>
              <a:rPr lang="en-US" altLang="ko-KR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CNN</a:t>
            </a:r>
          </a:p>
          <a:p>
            <a:pPr algn="ctr"/>
            <a:r>
              <a:rPr lang="ko-KR" altLang="en-US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학습필터 중 하나</a:t>
            </a:r>
          </a:p>
        </p:txBody>
      </p:sp>
    </p:spTree>
    <p:extLst>
      <p:ext uri="{BB962C8B-B14F-4D97-AF65-F5344CB8AC3E}">
        <p14:creationId xmlns:p14="http://schemas.microsoft.com/office/powerpoint/2010/main" val="2055140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3D32-2ADD-D1C0-FEE3-F15F1F7F6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아쿠아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E2BD64-AB17-1F91-5DA0-6EBCC265F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049"/>
            <a:ext cx="12192000" cy="604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318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242E-FCF1-60A4-EF31-A048B1BF7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소프트웨어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A4D5E5-441F-3A3E-4F17-74BCC005A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0516"/>
            <a:ext cx="12192000" cy="420072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E36A141-37B6-5956-FB07-E7C4164151FF}"/>
              </a:ext>
            </a:extLst>
          </p:cNvPr>
          <p:cNvSpPr/>
          <p:nvPr/>
        </p:nvSpPr>
        <p:spPr>
          <a:xfrm>
            <a:off x="245595" y="548640"/>
            <a:ext cx="1699260" cy="11506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정확하게 자동차로 분류한 </a:t>
            </a:r>
            <a:r>
              <a:rPr lang="en-US" altLang="ko-KR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CNN</a:t>
            </a:r>
            <a:endParaRPr lang="ko-KR" altLang="en-US" sz="20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8512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3CF10-21BA-5257-7C5C-563E9C8C9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사람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B7C42A-0B8B-27FE-361F-E247FF4F0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935"/>
            <a:ext cx="12192000" cy="462397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62D5116-2967-3BBB-3C82-6E0DA3F2E340}"/>
              </a:ext>
            </a:extLst>
          </p:cNvPr>
          <p:cNvSpPr/>
          <p:nvPr/>
        </p:nvSpPr>
        <p:spPr>
          <a:xfrm>
            <a:off x="154154" y="469315"/>
            <a:ext cx="2131845" cy="11506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직접 원하는 사진을 분석해봅시다</a:t>
            </a:r>
            <a:r>
              <a:rPr lang="en-US" altLang="ko-KR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lang="ko-KR" altLang="en-US" sz="20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5971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DF7B7-571C-0359-125E-A787AAC6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7688068-E7C4-2C3F-5D3E-0E1E4CF501CF}"/>
              </a:ext>
            </a:extLst>
          </p:cNvPr>
          <p:cNvSpPr/>
          <p:nvPr/>
        </p:nvSpPr>
        <p:spPr>
          <a:xfrm>
            <a:off x="478302" y="1684606"/>
            <a:ext cx="11155679" cy="348878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600" b="1" dirty="0">
                <a:solidFill>
                  <a:schemeClr val="tx1"/>
                </a:solidFill>
                <a:latin typeface="+mn-ea"/>
              </a:rPr>
              <a:t>수고</a:t>
            </a:r>
            <a:endParaRPr lang="en-US" altLang="ko-KR" sz="116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600" b="1" dirty="0">
                <a:solidFill>
                  <a:schemeClr val="tx1"/>
                </a:solidFill>
                <a:latin typeface="+mn-ea"/>
              </a:rPr>
              <a:t>하셨습니다</a:t>
            </a:r>
            <a:r>
              <a:rPr lang="en-US" altLang="ko-KR" sz="11600" b="1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6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0648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185</Words>
  <Application>Microsoft Office PowerPoint</Application>
  <PresentationFormat>와이드스크린</PresentationFormat>
  <Paragraphs>46</Paragraphs>
  <Slides>23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나눔바른고딕</vt:lpstr>
      <vt:lpstr>나눔바른펜</vt:lpstr>
      <vt:lpstr>Arial</vt:lpstr>
      <vt:lpstr>Cambria Math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황성현</dc:creator>
  <cp:lastModifiedBy>황성현</cp:lastModifiedBy>
  <cp:revision>2</cp:revision>
  <dcterms:created xsi:type="dcterms:W3CDTF">2025-12-08T15:02:52Z</dcterms:created>
  <dcterms:modified xsi:type="dcterms:W3CDTF">2026-01-25T12:16:08Z</dcterms:modified>
</cp:coreProperties>
</file>